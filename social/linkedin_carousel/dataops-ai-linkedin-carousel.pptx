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e879fb5924fae" /><Relationship Type="http://schemas.openxmlformats.org/officeDocument/2006/relationships/extended-properties" Target="/docProps/app.xml" Id="R3589bbe0c6f0473d" /><Relationship Type="http://schemas.openxmlformats.org/officeDocument/2006/relationships/officeDocument" Target="/ppt/presentation.xml" Id="R9445bbfad71947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71865b37f4338"/>
  </p:sldMasterIdLst>
  <p:notesMasterIdLst>
    <p:notesMasterId xmlns:r="http://schemas.openxmlformats.org/officeDocument/2006/relationships" r:id="R9c78a535b9ea4242"/>
  </p:notesMasterIdLst>
  <p:sldIdLst>
    <p:sldId xmlns:r="http://schemas.openxmlformats.org/officeDocument/2006/relationships" id="256" r:id="Rb6d26c0df7224cd7"/>
    <p:sldId xmlns:r="http://schemas.openxmlformats.org/officeDocument/2006/relationships" id="257" r:id="R88cf79f53fb3418f"/>
    <p:sldId xmlns:r="http://schemas.openxmlformats.org/officeDocument/2006/relationships" id="258" r:id="R24d5986a062b4ae8"/>
    <p:sldId xmlns:r="http://schemas.openxmlformats.org/officeDocument/2006/relationships" id="259" r:id="Rba3ed14c621d4493"/>
    <p:sldId xmlns:r="http://schemas.openxmlformats.org/officeDocument/2006/relationships" id="260" r:id="R5f67ff051f6d49ff"/>
    <p:sldId xmlns:r="http://schemas.openxmlformats.org/officeDocument/2006/relationships" id="261" r:id="Ra1346ed4cdcc46f4"/>
    <p:sldId xmlns:r="http://schemas.openxmlformats.org/officeDocument/2006/relationships" id="262" r:id="R9fbf37e3c3da4716"/>
    <p:sldId xmlns:r="http://schemas.openxmlformats.org/officeDocument/2006/relationships" id="263" r:id="Rc7805317cda343f6"/>
    <p:sldId xmlns:r="http://schemas.openxmlformats.org/officeDocument/2006/relationships" id="264" r:id="Rfeab2d0ab91443d2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772c57d594899" /><Relationship Type="http://schemas.openxmlformats.org/officeDocument/2006/relationships/slideMaster" Target="/ppt/slideMasters/slideMaster1.xml" Id="R87271865b37f4338" /><Relationship Type="http://schemas.openxmlformats.org/officeDocument/2006/relationships/notesMaster" Target="/ppt/notesMasters/notesMaster1.xml" Id="R9c78a535b9ea4242" /><Relationship Type="http://schemas.openxmlformats.org/officeDocument/2006/relationships/presProps" Target="/ppt/presProps.xml" Id="R91f4eab6e6c54f0f" /><Relationship Type="http://schemas.openxmlformats.org/officeDocument/2006/relationships/tableStyles" Target="/ppt/tableStyles.xml" Id="R918bc70dad274b60" /><Relationship Type="http://schemas.openxmlformats.org/officeDocument/2006/relationships/slide" Target="/ppt/slides/slide1.xml" Id="Rb6d26c0df7224cd7" /><Relationship Type="http://schemas.openxmlformats.org/officeDocument/2006/relationships/slide" Target="/ppt/slides/slide2.xml" Id="R88cf79f53fb3418f" /><Relationship Type="http://schemas.openxmlformats.org/officeDocument/2006/relationships/slide" Target="/ppt/slides/slide3.xml" Id="R24d5986a062b4ae8" /><Relationship Type="http://schemas.openxmlformats.org/officeDocument/2006/relationships/slide" Target="/ppt/slides/slide4.xml" Id="Rba3ed14c621d4493" /><Relationship Type="http://schemas.openxmlformats.org/officeDocument/2006/relationships/slide" Target="/ppt/slides/slide5.xml" Id="R5f67ff051f6d49ff" /><Relationship Type="http://schemas.openxmlformats.org/officeDocument/2006/relationships/slide" Target="/ppt/slides/slide6.xml" Id="Ra1346ed4cdcc46f4" /><Relationship Type="http://schemas.openxmlformats.org/officeDocument/2006/relationships/slide" Target="/ppt/slides/slide7.xml" Id="R9fbf37e3c3da4716" /><Relationship Type="http://schemas.openxmlformats.org/officeDocument/2006/relationships/slide" Target="/ppt/slides/slide8.xml" Id="Rc7805317cda343f6" /><Relationship Type="http://schemas.openxmlformats.org/officeDocument/2006/relationships/slide" Target="/ppt/slides/slide9.xml" Id="Rfeab2d0ab914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fcd67ae38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706f30f094a4e" /><Relationship Type="http://schemas.openxmlformats.org/officeDocument/2006/relationships/notesMaster" Target="/ppt/notesMasters/notesMaster1.xml" Id="Red8687a90f4f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32d62e31d543b6" /><Relationship Type="http://schemas.openxmlformats.org/officeDocument/2006/relationships/notesMaster" Target="/ppt/notesMasters/notesMaster1.xml" Id="R3a35c3d01e1941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8568e1b35b4b3a" /><Relationship Type="http://schemas.openxmlformats.org/officeDocument/2006/relationships/notesMaster" Target="/ppt/notesMasters/notesMaster1.xml" Id="R8717f0a59c0f4e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878769aca4b92" /><Relationship Type="http://schemas.openxmlformats.org/officeDocument/2006/relationships/notesMaster" Target="/ppt/notesMasters/notesMaster1.xml" Id="Rde8e2f0a3a3449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6b0e4a7564e05" /><Relationship Type="http://schemas.openxmlformats.org/officeDocument/2006/relationships/notesMaster" Target="/ppt/notesMasters/notesMaster1.xml" Id="R50fdb480a882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4a0f833ff48e5" /><Relationship Type="http://schemas.openxmlformats.org/officeDocument/2006/relationships/notesMaster" Target="/ppt/notesMasters/notesMaster1.xml" Id="R6be5abd85bb7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3c516b4a96461b" /><Relationship Type="http://schemas.openxmlformats.org/officeDocument/2006/relationships/notesMaster" Target="/ppt/notesMasters/notesMaster1.xml" Id="Rc8083197db8049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482abbf3144a9" /><Relationship Type="http://schemas.openxmlformats.org/officeDocument/2006/relationships/notesMaster" Target="/ppt/notesMasters/notesMaster1.xml" Id="Re9076db4da6a4f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12197f40724b0a" /><Relationship Type="http://schemas.openxmlformats.org/officeDocument/2006/relationships/notesMaster" Target="/ppt/notesMasters/notesMaster1.xml" Id="Rbc6ec07ec020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b7014f239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3a885280b6419b" /><Relationship Type="http://schemas.openxmlformats.org/officeDocument/2006/relationships/slideLayout" Target="/ppt/slideLayouts/slideLayout1.xml" Id="R534d95ec41f8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4d95ec41f8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3e37bf6544d00" /><Relationship Type="http://schemas.openxmlformats.org/officeDocument/2006/relationships/notesSlide" Target="/ppt/notesSlides/notesSlide1.xml" Id="R666b8dc92a2d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19bada44f41b0" /><Relationship Type="http://schemas.openxmlformats.org/officeDocument/2006/relationships/notesSlide" Target="/ppt/notesSlides/notesSlide2.xml" Id="Rc2352d1f56854b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e3cbcdf62435b" /><Relationship Type="http://schemas.openxmlformats.org/officeDocument/2006/relationships/notesSlide" Target="/ppt/notesSlides/notesSlide3.xml" Id="R7f6036df8cf3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8a47ee7fb48e8" /><Relationship Type="http://schemas.openxmlformats.org/officeDocument/2006/relationships/notesSlide" Target="/ppt/notesSlides/notesSlide4.xml" Id="R0b5f747a0af7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b6308145b48ac" /><Relationship Type="http://schemas.openxmlformats.org/officeDocument/2006/relationships/notesSlide" Target="/ppt/notesSlides/notesSlide5.xml" Id="R0656fd7a111c46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071f1ac84ea6" /><Relationship Type="http://schemas.openxmlformats.org/officeDocument/2006/relationships/notesSlide" Target="/ppt/notesSlides/notesSlide6.xml" Id="Rf6781df918b5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e1b5c6c224b45" /><Relationship Type="http://schemas.openxmlformats.org/officeDocument/2006/relationships/notesSlide" Target="/ppt/notesSlides/notesSlide7.xml" Id="Rfc269e1533e447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3ca4462a24d37" /><Relationship Type="http://schemas.openxmlformats.org/officeDocument/2006/relationships/notesSlide" Target="/ppt/notesSlides/notesSlide8.xml" Id="Rc1da73bdba994d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0ac0017ea4df8" /><Relationship Type="http://schemas.openxmlformats.org/officeDocument/2006/relationships/notesSlide" Target="/ppt/notesSlides/notesSlide9.xml" Id="Ra2b65009f19e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67F57-1216-459F-B837-7BD82F5A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PROJETO DE PORTFÓLIO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2A8F-632B-4AFC-9140-0610BA4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1827"/>
                </a:solidFill>
              </a:defRPr>
            </a:pPr>
            <a:r>
              <a:rPr sz="4950" b="1">
                <a:solidFill>
                  <a:srgbClr val="141827"/>
                </a:solidFill>
              </a:rPr>
              <a:t>DataOps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BF925-3967-46EE-A817-84667A46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Uma mini plataforma para monitorar pipelines, detectar incidentes de dados e gerar diagnósticos com agentes.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4FC4B-FD1D-40CD-A0C7-6ABD8DA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81750"/>
            <a:ext cx="2857500" cy="3714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824CE-3CEE-48E2-8AF1-2BB73DA7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877050"/>
            <a:ext cx="2057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B3137-459B-4692-A377-80E2592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677150"/>
            <a:ext cx="2057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7A64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32B77-01EA-4F5C-9DB0-D5A73D73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8477250"/>
            <a:ext cx="2057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BC4E0-60AD-4C05-AC34-D95024CC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9818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827"/>
                </a:solidFill>
              </a:defRPr>
            </a:pPr>
            <a:r>
              <a:rPr sz="1500" b="1">
                <a:solidFill>
                  <a:srgbClr val="141827"/>
                </a:solidFill>
              </a:rPr>
              <a:t>BCB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10669-75A7-4BBE-ADE1-ACE5DB69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7819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87B8C-31F5-4D0F-8A54-21423CAF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58202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827"/>
                </a:solidFill>
              </a:defRPr>
            </a:pPr>
            <a:r>
              <a:rPr sz="1500" b="1">
                <a:solidFill>
                  <a:srgbClr val="141827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ACA98-5247-42B4-B049-1F4EF3F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77000"/>
            <a:ext cx="4000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0B49B-F9E0-4540-85D0-056CD8B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77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87083"/>
                </a:solidFill>
              </a:defRPr>
            </a:pPr>
            <a:r>
              <a:rPr sz="1575" b="1">
                <a:solidFill>
                  <a:srgbClr val="687083"/>
                </a:solidFill>
              </a:rPr>
              <a:t>incidentes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B4E8A-8C5E-4C47-B4DB-7CA1B1F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334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41827"/>
                </a:solidFill>
              </a:defRPr>
            </a:pPr>
            <a:r>
              <a:rPr sz="5550" b="1">
                <a:solidFill>
                  <a:srgbClr val="141827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ED143-CB3F-495E-8F10-352D9819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524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87083"/>
                </a:solidFill>
              </a:defRPr>
            </a:pPr>
            <a:r>
              <a:rPr sz="1800">
                <a:solidFill>
                  <a:srgbClr val="687083"/>
                </a:solidFill>
              </a:rPr>
              <a:t>cenários simulados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A73D5-520B-4B31-B60B-05CDFC6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086850"/>
            <a:ext cx="4000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406C7-CA53-4C51-AF92-D705EB5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29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Gemini como motor de diagnóstico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65342-DA94-4823-A238-C64F046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2533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Engenharia de Dados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7FD0B-1F94-425A-8FF0-DBF91BA2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991850"/>
            <a:ext cx="17335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Data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79802-BF32-478A-AF80-164864A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D18FA-E214-4CA8-A9E3-E8FE3217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A0562-ED9C-4BDF-96E2-C9F3D403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01/09</a:t>
            </a:r>
          </a:p>
        </p:txBody>
      </p:sp>
    </p:spTree>
    <p:extLst>
      <p:ext uri="{BB962C8B-B14F-4D97-AF65-F5344CB8AC3E}">
        <p14:creationId xmlns:p14="http://schemas.microsoft.com/office/powerpoint/2010/main" val="2123390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46165-1F8C-42F1-9288-BD140B4C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D4565-FC15-4743-90C9-4108082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1827"/>
                </a:solidFill>
              </a:defRPr>
            </a:pPr>
            <a:r>
              <a:rPr sz="4950" b="1">
                <a:solidFill>
                  <a:srgbClr val="141827"/>
                </a:solidFill>
              </a:rPr>
              <a:t>Pipeline bom também falha.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409B-4D5A-4C20-8DEC-B3F04F3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Timeout de API, valor nulo, tipo inválido, duplicidade e mudança de schema podem quebrar a confiança no dado antes de chegar ao consumo.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71EF8-D178-4410-97C2-8FD8C5F2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FAA69-DD2A-473F-89AC-985E710E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77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827"/>
                </a:solidFill>
              </a:defRPr>
            </a:pPr>
            <a:r>
              <a:rPr sz="1875" b="1">
                <a:solidFill>
                  <a:srgbClr val="141827"/>
                </a:solidFill>
              </a:rPr>
              <a:t>timeout na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8D03-346E-47D7-9F9A-AF2EDB3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96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A64"/>
                </a:solidFill>
              </a:defRPr>
            </a:pPr>
            <a:r>
              <a:rPr sz="1425" b="1">
                <a:solidFill>
                  <a:srgbClr val="F07A64"/>
                </a:solidFill>
              </a:rPr>
              <a:t>risco detectável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C88D9-B805-4745-A28F-7C8A5BA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628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EC55E-668A-4BE0-984C-086A81D9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353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827"/>
                </a:solidFill>
              </a:defRPr>
            </a:pPr>
            <a:r>
              <a:rPr sz="1875" b="1">
                <a:solidFill>
                  <a:srgbClr val="141827"/>
                </a:solidFill>
              </a:rPr>
              <a:t>valor nulo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9F68E-BAEC-4EE3-97E1-005F84C3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37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A64"/>
                </a:solidFill>
              </a:defRPr>
            </a:pPr>
            <a:r>
              <a:rPr sz="1425" b="1">
                <a:solidFill>
                  <a:srgbClr val="F07A64"/>
                </a:solidFill>
              </a:rPr>
              <a:t>risco detectável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78226-DAFD-43A7-BAE5-D4BDBABB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391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D7E1F-DFC3-410F-A9B3-985EEFB2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22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827"/>
                </a:solidFill>
              </a:defRPr>
            </a:pPr>
            <a:r>
              <a:rPr sz="1875" b="1">
                <a:solidFill>
                  <a:srgbClr val="141827"/>
                </a:solidFill>
              </a:rPr>
              <a:t>tipo inválido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F6582-06AC-45AB-ACFE-EECD6BE7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24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A64"/>
                </a:solidFill>
              </a:defRPr>
            </a:pPr>
            <a:r>
              <a:rPr sz="1425" b="1">
                <a:solidFill>
                  <a:srgbClr val="F07A64"/>
                </a:solidFill>
              </a:rPr>
              <a:t>risco detectável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CC0C1-8A8B-445E-9A80-508CF18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154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F796A-F2E7-46B2-A5ED-B09FEDD0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05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827"/>
                </a:solidFill>
              </a:defRPr>
            </a:pPr>
            <a:r>
              <a:rPr sz="1875" b="1">
                <a:solidFill>
                  <a:srgbClr val="141827"/>
                </a:solidFill>
              </a:rPr>
              <a:t>duplicidade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1A92D-5C0E-45B6-9074-D4E1A9A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12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A64"/>
                </a:solidFill>
              </a:defRPr>
            </a:pPr>
            <a:r>
              <a:rPr sz="1425" b="1">
                <a:solidFill>
                  <a:srgbClr val="F07A64"/>
                </a:solidFill>
              </a:rPr>
              <a:t>risco detectável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50BA4-D843-4AC0-A824-C930B892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791700"/>
            <a:ext cx="8001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8F9B2-7EED-4CBB-B4A5-1FB4056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982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1827"/>
                </a:solidFill>
              </a:defRPr>
            </a:pPr>
            <a:r>
              <a:rPr sz="1875" b="1">
                <a:solidFill>
                  <a:srgbClr val="141827"/>
                </a:solidFill>
              </a:rPr>
              <a:t>schema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D00FF-5198-4BB7-980E-E87BC8A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00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7A64"/>
                </a:solidFill>
              </a:defRPr>
            </a:pPr>
            <a:r>
              <a:rPr sz="1425" b="1">
                <a:solidFill>
                  <a:srgbClr val="F07A64"/>
                </a:solidFill>
              </a:rPr>
              <a:t>risco detectável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F7A6B-2F73-40ED-86C7-CC1C5E03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1276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detectar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146BF-921B-4EA9-8A42-48F65FD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991850"/>
            <a:ext cx="1504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investigar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7CCDD-4E20-44CF-955C-A0A4C10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991850"/>
            <a:ext cx="1390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registrar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951A0-04BA-41A8-A832-591F9C2E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FDA97-4A85-41CD-B8A0-03038A3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02/09</a:t>
            </a:r>
          </a:p>
        </p:txBody>
      </p:sp>
    </p:spTree>
    <p:extLst>
      <p:ext uri="{BB962C8B-B14F-4D97-AF65-F5344CB8AC3E}">
        <p14:creationId xmlns:p14="http://schemas.microsoft.com/office/powerpoint/2010/main" val="832171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821D7-9980-4ED0-A359-30248728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343E9-68E8-448F-847A-E569C92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1827"/>
                </a:solidFill>
              </a:defRPr>
            </a:pPr>
            <a:r>
              <a:rPr sz="4950" b="1">
                <a:solidFill>
                  <a:srgbClr val="141827"/>
                </a:solidFill>
              </a:rPr>
              <a:t>O core simula um fluxo de DataOps.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2FEDB-F08D-43EB-9F5A-110E5FF2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A pipeline coleta dados reais do Banco Central, grava no banco, valida qualidade e aciona agentes para diagnóstico.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B3F43-E58D-4D3A-8A55-A8B7F83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46807-E98F-4116-902A-7CDC57A7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58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827"/>
                </a:solidFill>
              </a:defRPr>
            </a:pPr>
            <a:r>
              <a:rPr sz="1725" b="1">
                <a:solidFill>
                  <a:srgbClr val="141827"/>
                </a:solidFill>
              </a:rPr>
              <a:t>BCB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311B8-DCE4-482E-9A18-8214D2A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277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87083"/>
                </a:solidFill>
              </a:defRPr>
            </a:pPr>
            <a:r>
              <a:rPr sz="1950" b="1">
                <a:solidFill>
                  <a:srgbClr val="687083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C1E46-F664-4AEA-9237-B440356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58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9B07-326B-4A46-97C2-844F0EF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258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827"/>
                </a:solidFill>
              </a:defRPr>
            </a:pPr>
            <a:r>
              <a:rPr sz="1725" b="1">
                <a:solidFill>
                  <a:srgbClr val="141827"/>
                </a:solidFill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32F8A-D95B-477C-B409-C40FEB7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277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87083"/>
                </a:solidFill>
              </a:defRPr>
            </a:pPr>
            <a:r>
              <a:rPr sz="1950" b="1">
                <a:solidFill>
                  <a:srgbClr val="687083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B5399-B64D-4937-AF91-EDA0067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858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6B091-E2D6-4F3C-8F56-E8F64A4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258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827"/>
                </a:solidFill>
              </a:defRPr>
            </a:pPr>
            <a:r>
              <a:rPr sz="1725" b="1">
                <a:solidFill>
                  <a:srgbClr val="141827"/>
                </a:solidFill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BDECC-61C6-428F-878F-BF15B1D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7277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87083"/>
                </a:solidFill>
              </a:defRPr>
            </a:pPr>
            <a:r>
              <a:rPr sz="1950" b="1">
                <a:solidFill>
                  <a:srgbClr val="687083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ACA82-B7FE-48F0-925D-EB3CF4B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858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8A721-88D7-415B-AC3E-071E331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258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827"/>
                </a:solidFill>
              </a:defRPr>
            </a:pPr>
            <a:r>
              <a:rPr sz="1725" b="1">
                <a:solidFill>
                  <a:srgbClr val="141827"/>
                </a:solidFill>
              </a:rPr>
              <a:t>Data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1C218-8B95-4B2C-AFD3-6EBB53A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2771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87083"/>
                </a:solidFill>
              </a:defRPr>
            </a:pPr>
            <a:r>
              <a:rPr sz="1950" b="1">
                <a:solidFill>
                  <a:srgbClr val="687083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8CC2D-02D5-45B5-A06C-74A341EF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580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DC29-449A-43D5-A9D6-4E08FF1C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580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827"/>
                </a:solidFill>
              </a:defRPr>
            </a:pPr>
            <a:r>
              <a:rPr sz="1725" b="1">
                <a:solidFill>
                  <a:srgbClr val="141827"/>
                </a:solidFill>
              </a:rPr>
              <a:t>Agentes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7F447-3362-4960-AFBC-DAA1197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629650"/>
            <a:ext cx="685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B1F8-DE85-4E59-9CC3-E79BB7AF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991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validação + diagnóstico + histórico por execução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4BAD2-68A8-4A2F-B791-D8409691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BCB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EA00B-12EF-4F2C-BD46-CE1BA3D0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991850"/>
            <a:ext cx="1504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E6239-555B-4E41-B7E3-0178BAC9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506AF-6CBF-4FD6-A25B-6B67159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AF98A-D7F6-40F1-BF0C-40FEC37F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03/09</a:t>
            </a:r>
          </a:p>
        </p:txBody>
      </p:sp>
    </p:spTree>
    <p:extLst>
      <p:ext uri="{BB962C8B-B14F-4D97-AF65-F5344CB8AC3E}">
        <p14:creationId xmlns:p14="http://schemas.microsoft.com/office/powerpoint/2010/main" val="1250663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64967-DCDA-4338-A9DB-4FE2A6BE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A7FFA-2539-43EF-81A2-AD1AB10B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1827"/>
                </a:solidFill>
              </a:defRPr>
            </a:pPr>
            <a:r>
              <a:rPr sz="4350" b="1">
                <a:solidFill>
                  <a:srgbClr val="141827"/>
                </a:solidFill>
              </a:rPr>
              <a:t>Da API ao banco com rastreio por execução.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23D3C-79C6-4153-BD0C-7590B009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Cada rodada recebe um run_id para conectar logs, validações, diagnóstico, investigação, resolução e histórico.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7DFB4-8068-43E1-B0F8-5E8928F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86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294FF-CF26-478B-9758-9E0BBAF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32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827"/>
                </a:solidFill>
              </a:defRPr>
            </a:pPr>
            <a:r>
              <a:rPr sz="2250" b="1">
                <a:solidFill>
                  <a:srgbClr val="141827"/>
                </a:solidFill>
              </a:rPr>
              <a:t>extração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2A812-6FB2-4303-AC23-898DFF6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1912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FB995-DD94-4002-8DDB-3FE40FD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866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F0A18-14D7-41D7-BBF5-7BC7866E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124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827"/>
                </a:solidFill>
              </a:defRPr>
            </a:pPr>
            <a:r>
              <a:rPr sz="2250" b="1">
                <a:solidFill>
                  <a:srgbClr val="141827"/>
                </a:solidFill>
              </a:rPr>
              <a:t>transformação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BC3D0-1AEA-429D-AE51-781BAD4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9913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E0A35-4A7E-4C54-ACFD-5445700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886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068D9-7075-4D89-9F2C-351EA7F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924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827"/>
                </a:solidFill>
              </a:defRPr>
            </a:pPr>
            <a:r>
              <a:rPr sz="2250" b="1">
                <a:solidFill>
                  <a:srgbClr val="141827"/>
                </a:solidFill>
              </a:rPr>
              <a:t>carga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AEC2C-825A-4B3F-B887-ABF503D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791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F9BEE-3830-47BC-A1EF-E4D991B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686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C390-751B-40DD-9BED-82317159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724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827"/>
                </a:solidFill>
              </a:defRPr>
            </a:pPr>
            <a:r>
              <a:rPr sz="2250" b="1">
                <a:solidFill>
                  <a:srgbClr val="141827"/>
                </a:solidFill>
              </a:rPr>
              <a:t>qualidade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B111F-4796-4FBA-9584-5F3A0B6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5915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2DF38-5F63-466A-BE16-30A75C8E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486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A85B1-6503-41B2-B465-8446911B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525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827"/>
                </a:solidFill>
              </a:defRPr>
            </a:pPr>
            <a:r>
              <a:rPr sz="2250" b="1">
                <a:solidFill>
                  <a:srgbClr val="141827"/>
                </a:solidFill>
              </a:rPr>
              <a:t>diagnóstico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1FFA7-343F-4A59-87F7-AF42C73C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391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CB818-FB84-40CA-BB7D-B70BD342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2533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extração da API SGS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95925-4024-442E-A11A-E0C34969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991850"/>
            <a:ext cx="3105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transformação com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B72C3-0A85-49C3-BAEA-B395D39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991850"/>
            <a:ext cx="2533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carga em 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694B4-F413-4701-A149-A8118AF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82400"/>
            <a:ext cx="2647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histórico por run_id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56115-A230-4AF6-8E1C-A885844F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35EE5-4DF7-47D0-BC7D-A4E39A1A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04/09</a:t>
            </a:r>
          </a:p>
        </p:txBody>
      </p:sp>
    </p:spTree>
    <p:extLst>
      <p:ext uri="{BB962C8B-B14F-4D97-AF65-F5344CB8AC3E}">
        <p14:creationId xmlns:p14="http://schemas.microsoft.com/office/powerpoint/2010/main" val="574736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8A575-A518-4190-8C18-4437E3A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CENÁRIOS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C87BC-717D-40B6-9268-FC87939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1827"/>
                </a:solidFill>
              </a:defRPr>
            </a:pPr>
            <a:r>
              <a:rPr sz="4350" b="1">
                <a:solidFill>
                  <a:srgbClr val="141827"/>
                </a:solidFill>
              </a:rPr>
              <a:t>As falhas são simuladas de forma controlada.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9BC68-FC46-416A-94EA-465D5DA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Os cenários permitem testar como o sistema reage a incidentes diferentes sem depender de erro real em produção.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733F3-35DA-4A6F-9DD1-995702F1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38875"/>
            <a:ext cx="3810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1DC4D-9ECE-4F99-B10C-72B4BD0C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579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valores nulos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58536-8134-47B1-97AB-C7278F8D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38875"/>
            <a:ext cx="3810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96826-1510-49C4-AC85-B7A99EF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6579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mudança de estrutura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51E5B-33DF-478E-BA48-F54228A1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81925"/>
            <a:ext cx="3810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C3B48-8CC3-49E8-A0F5-E09FAE7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2010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timeout na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B955-431A-4297-89AB-0AE7E495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781925"/>
            <a:ext cx="3810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F48A3-6F33-4030-85FF-70C72A64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82010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registros duplicados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49F8A-0B01-4811-811F-B28AB49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24975"/>
            <a:ext cx="3810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AEF7F-E389-4A23-A898-B9D6094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744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tipo inválido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0B90F-72FD-4CA2-B51D-FC95CDCB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nulos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1D9C9-BDC6-4188-B100-33F063AF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991850"/>
            <a:ext cx="17335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schema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620BF-D358-46B3-87AB-1ADF0C2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CDC73-7A8E-4E88-B073-D8A9DAAF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991850"/>
            <a:ext cx="1504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duplicados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9EDC8-812E-421D-B035-41B8BEA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991850"/>
            <a:ext cx="1847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A64"/>
          </a:solidFill>
          <a:ln xmlns:a="http://schemas.openxmlformats.org/drawingml/2006/main" w="9525">
            <a:solidFill>
              <a:srgbClr val="F07A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tipo inválido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015EB-1162-4579-8D24-8E6E7F7B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B6284-6316-4DDF-99A2-D9B6D6A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05/09</a:t>
            </a:r>
          </a:p>
        </p:txBody>
      </p:sp>
    </p:spTree>
    <p:extLst>
      <p:ext uri="{BB962C8B-B14F-4D97-AF65-F5344CB8AC3E}">
        <p14:creationId xmlns:p14="http://schemas.microsoft.com/office/powerpoint/2010/main" val="1517387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E6E8C-04D4-4580-86C4-2DDC55D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AGENTES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595A6-2222-4626-9BFD-595C2C6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1827"/>
                </a:solidFill>
              </a:defRPr>
            </a:pPr>
            <a:r>
              <a:rPr sz="4350" b="1">
                <a:solidFill>
                  <a:srgbClr val="141827"/>
                </a:solidFill>
              </a:rPr>
              <a:t>O diagnóstico passa por papéis separados.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9250A-CD96-4E4F-9117-69CC844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Cada agente tem uma responsabilidade clara para evitar misturar validação, investigação e plano de correção.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3FFD2-A055-4A8E-81D5-EA1DDD55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19850"/>
            <a:ext cx="7848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31C1C-5A7D-4081-9936-B5C0B15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705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DataQualityAgent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381F9-7D04-4760-9C24-9EAD7927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743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87083"/>
                </a:solidFill>
              </a:defRPr>
            </a:pPr>
            <a:r>
              <a:rPr sz="1725">
                <a:solidFill>
                  <a:srgbClr val="687083"/>
                </a:solidFill>
              </a:rPr>
              <a:t>interpreta as validações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2B307-E0BC-4091-8782-84FC8843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848600"/>
            <a:ext cx="7848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EF7DE-26A1-4918-A4B9-D074DCD1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34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InvestigationAgent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1D599-627F-409E-9F6F-8660AEB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172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87083"/>
                </a:solidFill>
              </a:defRPr>
            </a:pPr>
            <a:r>
              <a:rPr sz="1725">
                <a:solidFill>
                  <a:srgbClr val="687083"/>
                </a:solidFill>
              </a:rPr>
              <a:t>levanta evidências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FD95-7146-45BE-9EC2-9533ED55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277350"/>
            <a:ext cx="7848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A8A64-029D-435C-AD85-B43E990D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563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827"/>
                </a:solidFill>
              </a:defRPr>
            </a:pPr>
            <a:r>
              <a:rPr sz="2100" b="1">
                <a:solidFill>
                  <a:srgbClr val="141827"/>
                </a:solidFill>
              </a:rPr>
              <a:t>ResolutionAgent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6F485-9E4F-485D-A0EA-2A0E2AE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601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87083"/>
                </a:solidFill>
              </a:defRPr>
            </a:pPr>
            <a:r>
              <a:rPr sz="1725">
                <a:solidFill>
                  <a:srgbClr val="687083"/>
                </a:solidFill>
              </a:rPr>
              <a:t>gera plano de 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4352-ABC8-438F-A3B0-A1F198AF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2190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DataQualityAgent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7BB52-3191-4CD6-850E-F000190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0991850"/>
            <a:ext cx="2419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InvestigationAgent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B78E1-DF5D-4456-B540-D074713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991850"/>
            <a:ext cx="20764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ResolutionAgent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A55F0-3D76-4BB6-AD32-6571B50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CFD7A-6408-489F-9DA7-D2B56A79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06/09</a:t>
            </a:r>
          </a:p>
        </p:txBody>
      </p:sp>
    </p:spTree>
    <p:extLst>
      <p:ext uri="{BB962C8B-B14F-4D97-AF65-F5344CB8AC3E}">
        <p14:creationId xmlns:p14="http://schemas.microsoft.com/office/powerpoint/2010/main" val="984443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E5AC5-0EB1-4BB9-ABE7-80291AC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GEMINI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23FD4-E586-47F8-B5E6-C9183CA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1827"/>
                </a:solidFill>
              </a:defRPr>
            </a:pPr>
            <a:r>
              <a:rPr sz="4350" b="1">
                <a:solidFill>
                  <a:srgbClr val="141827"/>
                </a:solidFill>
              </a:rPr>
              <a:t>Gemini entra como motor de diagnóstico.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FDB7A-E0A8-4CA8-9841-5B69001C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Quando há incidente, o DataQualityAgent usa Gemini com resposta estruturada, metadata da chamada e fallback local.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B8B4F-92B0-4586-BD3A-D2AF8122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324600"/>
            <a:ext cx="79629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94581-CD7A-45B6-B032-080A3B8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70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Google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60FA7-5000-4BA0-A925-62392E99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1818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1827"/>
                </a:solidFill>
              </a:defRPr>
            </a:pPr>
            <a:r>
              <a:rPr sz="5400" b="1">
                <a:solidFill>
                  <a:srgbClr val="141827"/>
                </a:solidFill>
              </a:rPr>
              <a:t>Gemini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11F4C-A1ED-43ED-9DA9-31B1541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296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87083"/>
                </a:solidFill>
              </a:defRPr>
            </a:pPr>
            <a:r>
              <a:rPr sz="1950">
                <a:solidFill>
                  <a:srgbClr val="687083"/>
                </a:solidFill>
              </a:rPr>
              <a:t>resposta estruturada | metadata | fallback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6B212-A161-4EDD-B843-A38364CF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696450"/>
            <a:ext cx="704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ACA3F-F593-486A-AF89-84B357A3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9822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IA tratada como parte da arquitetura, não como chamada solta.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13630-8903-4EA9-B4B8-C2377D5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2190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Interactions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C9BA1-D276-4B5F-BC1E-32779F5A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0991850"/>
            <a:ext cx="1619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JSON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0409A-9843-422D-A0BA-14D30592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991850"/>
            <a:ext cx="2190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function calling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D3C36-0362-4820-BB94-83E6CC1A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991850"/>
            <a:ext cx="29908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diagnóstico estruturado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701FF-8327-4158-9F24-954EBF6A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20840-508C-421D-A406-658EDC3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07/09</a:t>
            </a:r>
          </a:p>
        </p:txBody>
      </p:sp>
    </p:spTree>
    <p:extLst>
      <p:ext uri="{BB962C8B-B14F-4D97-AF65-F5344CB8AC3E}">
        <p14:creationId xmlns:p14="http://schemas.microsoft.com/office/powerpoint/2010/main" val="1624921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FEE16-0477-4A97-9DD5-EE26D19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RASTREABILIDADE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0EAD-E41D-4E7D-BEDE-43FD1828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1827"/>
                </a:solidFill>
              </a:defRPr>
            </a:pPr>
            <a:r>
              <a:rPr sz="4950" b="1">
                <a:solidFill>
                  <a:srgbClr val="141827"/>
                </a:solidFill>
              </a:rPr>
              <a:t>LLM também precisa deixar rastro.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F32DC-1696-45EC-AAFD-0C871AA1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O projeto salva modelo, API usada, versão do prompt, interaction_id, tools disponíveis, tools chamadas e motivo de fallback.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06815-A5A0-4954-B34D-D32EACD5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90A22-706B-4DAE-962C-8BD30B3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67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modelo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F3094-38FC-46F9-9E52-8A31290D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67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CAB3E-9F29-4C0D-B3C4-5AB1551D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389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9142-4D64-4102-89BC-813B79D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API usada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A7DC-25DB-459F-A2C4-8D0D173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010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4E825-3743-4AF1-BEA3-3EB0C2D0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8190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4C7CC-AD8F-4372-B47A-F31670BB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753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versão do 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1A111-256A-40AC-ACC2-2596C32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75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A3864-8849-4013-910F-25DB375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248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9F6C5-98A2-4FC5-B0C3-D94DB2C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496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interaction_id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E7A37-ED02-40DD-B557-1EF6E8C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496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D9724-9BDE-463E-AFA8-094490B3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06780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5C68E-C506-47A0-B97D-25EC9C05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923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tools chamadas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98998-0D1D-4C8E-A4F0-92E2DAE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239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0301D-EBFD-4437-94F2-82BA2741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10750"/>
            <a:ext cx="800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AE827-20FC-4CDC-AEFF-6DABB8A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9982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1827"/>
                </a:solidFill>
              </a:defRPr>
            </a:pPr>
            <a:r>
              <a:rPr sz="1800" b="1">
                <a:solidFill>
                  <a:srgbClr val="141827"/>
                </a:solidFill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C820C-0E95-4BD7-8EB3-9138FBB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982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8A5B"/>
                </a:solidFill>
              </a:defRPr>
            </a:pPr>
            <a:r>
              <a:rPr sz="1650" b="1">
                <a:solidFill>
                  <a:srgbClr val="1F8A5B"/>
                </a:solidFill>
              </a:rPr>
              <a:t>registrado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84947-461E-4DEF-B6E8-2F02DA9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1962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prompt 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92122-4134-4F91-A36C-7CDEF3BB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0991850"/>
            <a:ext cx="1962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interaction_id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2E3CA-8989-41CB-BEE3-4207FF70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0991850"/>
            <a:ext cx="1504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tool calls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22B7D-223E-4718-A897-E7F6A388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991850"/>
            <a:ext cx="1276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fallback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33A62-F19E-49A3-B832-D550A30E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4C788-EB50-4A66-BE54-C4557AF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08/09</a:t>
            </a:r>
          </a:p>
        </p:txBody>
      </p:sp>
    </p:spTree>
    <p:extLst>
      <p:ext uri="{BB962C8B-B14F-4D97-AF65-F5344CB8AC3E}">
        <p14:creationId xmlns:p14="http://schemas.microsoft.com/office/powerpoint/2010/main" val="1181409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1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D4BD9-4C6B-4070-B059-EC8BE75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STACK +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52D7C-CDD7-42DF-B8BE-19BD517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41827"/>
                </a:solidFill>
              </a:defRPr>
            </a:pPr>
            <a:r>
              <a:rPr sz="4950" b="1">
                <a:solidFill>
                  <a:srgbClr val="141827"/>
                </a:solidFill>
              </a:rPr>
              <a:t>A V1 já tem o core rodando.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66EBB-66FD-4F97-824C-E01CD309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00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687083"/>
                </a:solidFill>
              </a:defRPr>
            </a:pPr>
            <a:r>
              <a:rPr sz="2325">
                <a:solidFill>
                  <a:srgbClr val="687083"/>
                </a:solidFill>
              </a:rPr>
              <a:t>Agora o foco é ampliar tools, testes de integração, memória de incidentes e refinar a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45F39-B3E8-440C-A234-9DF25A7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ACC67-272A-4561-9E4C-9B117E8D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7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12C12-E9F1-484F-9BB7-F8D0F57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8650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BB59-D6A3-47F2-A95F-106E8D6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57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Pandas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6D723-C2BE-4144-83D9-E70FD9A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28650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0FBC-DFBC-459C-A10B-19E6625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57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897C7-A156-4ECB-8AEB-BB60B3B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28650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CEE10-5E6C-46A7-99AB-6B876221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5722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77441-CFC8-413B-9700-98026B3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C59DC-4206-4127-A140-494BDA2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34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CD2EE-C61E-4655-9EF4-EF8657B4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44855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71C4E-9114-4C5E-87D2-512D3F9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734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Streamlit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83B75-2E18-4274-B5B4-1BC215B1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44855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A96C8-B88F-40CD-A2D3-6D5F2F48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734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5F86A-E80F-4E96-ACFB-17532EFD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448550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AFF49-19FA-4B3D-A431-06F4985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7343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1827"/>
                </a:solidFill>
              </a:defRPr>
            </a:pPr>
            <a:r>
              <a:rPr sz="1950" b="1">
                <a:solidFill>
                  <a:srgbClr val="141827"/>
                </a:solidFill>
              </a:rPr>
              <a:t>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63FC4-7AF7-494C-9662-F9323F3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C362C-B80F-498C-B93D-0C8C375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Pandas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265BA-2F13-4828-A62E-17896C4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0991850"/>
            <a:ext cx="1504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5B"/>
          </a:solidFill>
          <a:ln xmlns:a="http://schemas.openxmlformats.org/drawingml/2006/main" w="9525">
            <a:solidFill>
              <a:srgbClr val="1F8A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FA2582-3394-4206-80AA-74475EE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9918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FastAPI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8559C-E20F-4AB7-88FB-B7249197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991850"/>
            <a:ext cx="13906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A64"/>
          </a:solidFill>
          <a:ln xmlns:a="http://schemas.openxmlformats.org/drawingml/2006/main" w="9525">
            <a:solidFill>
              <a:srgbClr val="F07A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E6DB0-C983-4CEE-85F5-8D2E8537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8240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A40"/>
          </a:solidFill>
          <a:ln xmlns:a="http://schemas.openxmlformats.org/drawingml/2006/main" w="9525">
            <a:solidFill>
              <a:srgbClr val="252A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0C738-7B69-4089-AFC2-B2801C97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158240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B7FF"/>
          </a:solidFill>
          <a:ln xmlns:a="http://schemas.openxmlformats.org/drawingml/2006/main" w="9525">
            <a:solidFill>
              <a:srgbClr val="C7B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827"/>
                </a:solidFill>
              </a:defRPr>
            </a:pPr>
            <a:r>
              <a:rPr sz="1350" b="1">
                <a:solidFill>
                  <a:srgbClr val="141827"/>
                </a:solidFill>
              </a:rPr>
              <a:t>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49CEF-E40C-4DD7-B7A7-11085CDF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77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DataOps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9E65C-A015-4ACD-9D70-3019449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77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87083"/>
                </a:solidFill>
              </a:defRPr>
            </a:pPr>
            <a:r>
              <a:rPr sz="1500" b="1">
                <a:solidFill>
                  <a:srgbClr val="687083"/>
                </a:solidFill>
              </a:rPr>
              <a:t>09/09</a:t>
            </a:r>
          </a:p>
        </p:txBody>
      </p:sp>
    </p:spTree>
    <p:extLst>
      <p:ext uri="{BB962C8B-B14F-4D97-AF65-F5344CB8AC3E}">
        <p14:creationId xmlns:p14="http://schemas.microsoft.com/office/powerpoint/2010/main" val="756614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2026-08-18T00:59:29.9660000Z</dcterms:created>
  <dcterms:modified xsi:type="dcterms:W3CDTF">2026-08-18T00:59:29.9660000Z</dcterms:modified>
</coreProperties>
</file>